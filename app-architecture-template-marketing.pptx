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1E2761"/>
                </a:solidFill>
                <a:latin typeface="Arial"/>
              </a:defRPr>
            </a:pPr>
            <a:r>
              <a:rPr sz="1400" b="1" i="0" u="none" strike="noStrike">
                <a:solidFill>
                  <a:srgbClr val="1E2761"/>
                </a:solidFill>
                <a:latin typeface="Arial"/>
              </a:rPr>
              <a:t>Time to First Feature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Setup Time (days)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636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9616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Traditional</c:v>
                  </c:pt>
                  <c:pt idx="1">
                    <c:v>With Template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</c:v>
                </c:pt>
                <c:pt idx="1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636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6363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6363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5F5F5">
        <a:alpha val="7000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61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2801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app-architecture-template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Clean Architecture Template for Polyglot Microservices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2743200"/>
            <a:ext cx="4114800" cy="27432"/>
          </a:xfrm>
          <a:prstGeom prst="rect">
            <a:avLst/>
          </a:prstGeom>
          <a:solidFill>
            <a:srgbClr val="CADCFC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0" y="1097280"/>
            <a:ext cx="2468880" cy="2286000"/>
          </a:xfrm>
          <a:prstGeom prst="rect">
            <a:avLst>
              <a:gd name="adj" fmla="val 4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0" y="13716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6400800" y="20574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Stacks Supported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(Java · Python · NestJS · React · Quasar)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3152" cy="1645920"/>
          </a:xfrm>
          <a:prstGeom prst="rect">
            <a:avLst/>
          </a:prstGeom>
          <a:solidFill>
            <a:srgbClr val="F961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microservice setup wastes days to weeks before developers can write a single line of business logic.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wiring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DB, caching, messaging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setup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 scaffolding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cycles and re-work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754880" y="1188720"/>
          <a:ext cx="39319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Template Delivers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1554480"/>
          </a:xfrm>
          <a:prstGeom prst="rect">
            <a:avLst/>
          </a:prstGeom>
          <a:solidFill>
            <a:srgbClr val="F5F5F5">
              <a:alpha val="40000"/>
            </a:srgbClr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325880"/>
            <a:ext cx="73152" cy="128016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Infrastructure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DB, caching, messaging, observability — all configured and ready.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1554480"/>
          </a:xfrm>
          <a:prstGeom prst="rect">
            <a:avLst/>
          </a:prstGeom>
          <a:solidFill>
            <a:srgbClr val="F5F5F5">
              <a:alpha val="40000"/>
            </a:srgbClr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325880"/>
            <a:ext cx="73152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417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Generators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83480" y="18745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yields working endpoints, tests, and architecture-compliant code.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3931920" cy="1554480"/>
          </a:xfrm>
          <a:prstGeom prst="rect">
            <a:avLst/>
          </a:prstGeom>
          <a:solidFill>
            <a:srgbClr val="F5F5F5">
              <a:alpha val="40000"/>
            </a:srgbClr>
          </a:solidFill>
          <a:ln w="19050">
            <a:solidFill>
              <a:srgbClr val="84B59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154680"/>
            <a:ext cx="73152" cy="1280160"/>
          </a:xfrm>
          <a:prstGeom prst="rect">
            <a:avLst/>
          </a:prstGeom>
          <a:solidFill>
            <a:srgbClr val="84B5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46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Boilerplate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37033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never touch config, Docker, or CI/CD — it just works.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3017520"/>
            <a:ext cx="3931920" cy="1554480"/>
          </a:xfrm>
          <a:prstGeom prst="rect">
            <a:avLst/>
          </a:prstGeom>
          <a:solidFill>
            <a:srgbClr val="F5F5F5">
              <a:alpha val="40000"/>
            </a:srgbClr>
          </a:solidFill>
          <a:ln w="19050">
            <a:solidFill>
              <a:srgbClr val="F9616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3154680"/>
            <a:ext cx="73152" cy="1280160"/>
          </a:xfrm>
          <a:prstGeom prst="rect">
            <a:avLst/>
          </a:prstGeom>
          <a:solidFill>
            <a:srgbClr val="F961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3246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Focus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83480" y="37033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implement features in minutes, not weeks.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 Enforced by Design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7315200" cy="2560320"/>
          </a:xfrm>
          <a:prstGeom prst="rect">
            <a:avLst/>
          </a:prstGeom>
          <a:solidFill>
            <a:srgbClr val="22D3EE">
              <a:alpha val="88000"/>
            </a:srgbClr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508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ADCFC"/>
                </a:solidFill>
              </a:rPr>
              <a:t>Infrastructure / Adapters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874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REST API · GraphQL · DB Repositories · Message Queues · External Services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14400" y="2377440"/>
            <a:ext cx="7315200" cy="1371600"/>
          </a:xfrm>
          <a:prstGeom prst="rect">
            <a:avLst/>
          </a:prstGeom>
          <a:solidFill>
            <a:srgbClr val="34D399">
              <a:alpha val="85000"/>
            </a:srgbClr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514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Application /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2880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Orchestrate domain objects to accomplish business goals. No framework imports.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solidFill>
            <a:srgbClr val="A78BFA">
              <a:alpha val="80000"/>
            </a:srgbClr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337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Domain / Entities &amp; Ports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3657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Pure business logic. Zero framework dependencies.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12480" y="2834640"/>
            <a:ext cx="0" cy="41148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 rot="5400000">
            <a:off x="8503920" y="2880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depends on →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412480" y="3566160"/>
            <a:ext cx="0" cy="50292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 rot="5400000">
            <a:off x="8503920" y="3611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depends on →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14400" y="4206240"/>
            <a:ext cx="7315200" cy="640080"/>
          </a:xfrm>
          <a:prstGeom prst="rect">
            <a:avLst/>
          </a:prstGeom>
          <a:solidFill>
            <a:srgbClr val="F96167">
              <a:alpha val="80000"/>
            </a:srgbClr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2976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Domain layer must contain ZERO framework imports. Violations caught by pre-commit gates.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Polyglot Stack Support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772400" cy="594360"/>
          </a:xfrm>
          <a:prstGeom prst="rect">
            <a:avLst/>
          </a:prstGeom>
          <a:solidFill>
            <a:srgbClr val="F5F5F5">
              <a:alpha val="60000"/>
            </a:srgbClr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73152" cy="594360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Java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011680" y="1234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Spring Boot · Gradle · JPA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0" y="1234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Gate: ArchUnit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7772400" cy="594360"/>
          </a:xfrm>
          <a:prstGeom prst="rect">
            <a:avLst/>
          </a:prstGeom>
          <a:solidFill>
            <a:srgbClr val="F5F5F5">
              <a:alpha val="60000"/>
            </a:srgbClr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920240"/>
            <a:ext cx="73152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659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Python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011680" y="1965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FastAPI · SQLModel · Alembic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0" y="1965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Gate: pytest-archon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7772400" cy="594360"/>
          </a:xfrm>
          <a:prstGeom prst="rect">
            <a:avLst/>
          </a:prstGeom>
          <a:solidFill>
            <a:srgbClr val="F5F5F5">
              <a:alpha val="60000"/>
            </a:srgbClr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651760"/>
            <a:ext cx="73152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697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NestJS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011680" y="2697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TypeScript · Prisma · Jest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0" y="2697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Gate: depcruise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383280"/>
            <a:ext cx="7772400" cy="594360"/>
          </a:xfrm>
          <a:prstGeom prst="rect">
            <a:avLst/>
          </a:prstGeom>
          <a:solidFill>
            <a:srgbClr val="F5F5F5">
              <a:alpha val="60000"/>
            </a:srgbClr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383280"/>
            <a:ext cx="73152" cy="59436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4290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ReactJS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011680" y="3429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Vite · TanStack · Zustand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0" y="3429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Gate: depcruise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7772400" cy="594360"/>
          </a:xfrm>
          <a:prstGeom prst="rect">
            <a:avLst/>
          </a:prstGeom>
          <a:solidFill>
            <a:srgbClr val="F5F5F5">
              <a:alpha val="60000"/>
            </a:srgbClr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4114800"/>
            <a:ext cx="73152" cy="594360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1605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Quasar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2011680" y="4160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Vue · Capacitor · Pinia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0" y="4160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Gate: depcruise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Comes Pre-Configured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1188720"/>
          </a:xfrm>
          <a:prstGeom prst="rect">
            <a:avLst/>
          </a:prstGeom>
          <a:solidFill>
            <a:srgbClr val="F5F5F5">
              <a:alpha val="50000"/>
            </a:srgbClr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41732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1371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Auth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1737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JWT, OAuth2, RBAC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26280" y="1188720"/>
            <a:ext cx="3931920" cy="1188720"/>
          </a:xfrm>
          <a:prstGeom prst="rect">
            <a:avLst/>
          </a:prstGeom>
          <a:solidFill>
            <a:srgbClr val="F5F5F5">
              <a:alpha val="50000"/>
            </a:srgbClr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41732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57800" y="1371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Database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257800" y="1737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PostgreSQL / MySQL + migrations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3931920" cy="1188720"/>
          </a:xfrm>
          <a:prstGeom prst="rect">
            <a:avLst/>
          </a:prstGeom>
          <a:solidFill>
            <a:srgbClr val="F5F5F5">
              <a:alpha val="50000"/>
            </a:srgbClr>
          </a:solidFill>
          <a:ln w="12700">
            <a:solidFill>
              <a:srgbClr val="F9616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743200"/>
            <a:ext cx="411480" cy="4114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2697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Caching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3063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Redis, in-memory fallback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26280" y="2514600"/>
            <a:ext cx="3931920" cy="1188720"/>
          </a:xfrm>
          <a:prstGeom prst="rect">
            <a:avLst/>
          </a:prstGeom>
          <a:solidFill>
            <a:srgbClr val="F5F5F5">
              <a:alpha val="50000"/>
            </a:srgbClr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743200"/>
            <a:ext cx="411480" cy="4114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57800" y="2697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Messaging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57800" y="3063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RabbitMQ / Kafka events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3931920" cy="1188720"/>
          </a:xfrm>
          <a:prstGeom prst="rect">
            <a:avLst/>
          </a:prstGeom>
          <a:solidFill>
            <a:srgbClr val="F5F5F5">
              <a:alpha val="50000"/>
            </a:srgbClr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4069080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88720" y="4023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Observability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88720" y="4389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Metrics, logging, tracing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26280" y="3840480"/>
            <a:ext cx="3931920" cy="1188720"/>
          </a:xfrm>
          <a:prstGeom prst="rect">
            <a:avLst/>
          </a:prstGeom>
          <a:solidFill>
            <a:srgbClr val="F5F5F5">
              <a:alpha val="50000"/>
            </a:srgbClr>
          </a:solidFill>
          <a:ln w="12700">
            <a:solidFill>
              <a:srgbClr val="84B59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4069080"/>
            <a:ext cx="411480" cy="411480"/>
          </a:xfrm>
          <a:prstGeom prst="ellipse">
            <a:avLst/>
          </a:prstGeom>
          <a:solidFill>
            <a:srgbClr val="84B5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57800" y="4023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Deployment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257800" y="4389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Docker, K8s, fleet-ready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Generator Workflow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371600" cy="1463040"/>
          </a:xfrm>
          <a:prstGeom prst="rect">
            <a:avLst/>
          </a:prstGeom>
          <a:solidFill>
            <a:srgbClr val="028090">
              <a:alpha val="88000"/>
            </a:srgbClr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37260" y="150876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726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PRD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Define feature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47088" y="2103120"/>
            <a:ext cx="192024" cy="0"/>
          </a:xfrm>
          <a:prstGeom prst="line">
            <a:avLst/>
          </a:prstGeom>
          <a:noFill/>
          <a:ln w="25400">
            <a:solidFill>
              <a:srgbClr val="36363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47672" y="2029968"/>
            <a:ext cx="128016" cy="146304"/>
          </a:xfrm>
          <a:prstGeom prst="rect">
            <a:avLst/>
          </a:prstGeom>
          <a:solidFill>
            <a:srgbClr val="3636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1371600"/>
            <a:ext cx="1371600" cy="1463040"/>
          </a:xfrm>
          <a:prstGeom prst="rect">
            <a:avLst/>
          </a:prstGeom>
          <a:solidFill>
            <a:srgbClr val="1E2761">
              <a:alpha val="88000"/>
            </a:srgbClr>
          </a:solidFill>
          <a:ln w="254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37460" y="150876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3746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057400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Spec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48840" y="23774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Derive tech spec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47288" y="2103120"/>
            <a:ext cx="192024" cy="0"/>
          </a:xfrm>
          <a:prstGeom prst="line">
            <a:avLst/>
          </a:prstGeom>
          <a:noFill/>
          <a:ln w="25400">
            <a:solidFill>
              <a:srgbClr val="36363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47872" y="2029968"/>
            <a:ext cx="128016" cy="146304"/>
          </a:xfrm>
          <a:prstGeom prst="rect">
            <a:avLst/>
          </a:prstGeom>
          <a:solidFill>
            <a:srgbClr val="3636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0" y="1371600"/>
            <a:ext cx="1371600" cy="1463040"/>
          </a:xfrm>
          <a:prstGeom prst="rect">
            <a:avLst/>
          </a:prstGeom>
          <a:solidFill>
            <a:srgbClr val="F96167">
              <a:alpha val="88000"/>
            </a:srgbClr>
          </a:solidFill>
          <a:ln w="25400">
            <a:solidFill>
              <a:srgbClr val="F9616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37660" y="1508760"/>
            <a:ext cx="411480" cy="4114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3766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57600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Generate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749040" y="23774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Run generator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47488" y="2103120"/>
            <a:ext cx="192024" cy="0"/>
          </a:xfrm>
          <a:prstGeom prst="line">
            <a:avLst/>
          </a:prstGeom>
          <a:noFill/>
          <a:ln w="25400">
            <a:solidFill>
              <a:srgbClr val="36363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48072" y="2029968"/>
            <a:ext cx="128016" cy="146304"/>
          </a:xfrm>
          <a:prstGeom prst="rect">
            <a:avLst/>
          </a:prstGeom>
          <a:solidFill>
            <a:srgbClr val="3636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57800" y="1371600"/>
            <a:ext cx="1371600" cy="1463040"/>
          </a:xfrm>
          <a:prstGeom prst="rect">
            <a:avLst/>
          </a:prstGeom>
          <a:solidFill>
            <a:srgbClr val="FBBF24">
              <a:alpha val="88000"/>
            </a:srgbClr>
          </a:solidFill>
          <a:ln w="25400">
            <a:solidFill>
              <a:srgbClr val="FBBF2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737860" y="1508760"/>
            <a:ext cx="411480" cy="4114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3786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57800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Test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49240" y="23774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Unit + integration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47688" y="2103120"/>
            <a:ext cx="192024" cy="0"/>
          </a:xfrm>
          <a:prstGeom prst="line">
            <a:avLst/>
          </a:prstGeom>
          <a:noFill/>
          <a:ln w="25400">
            <a:solidFill>
              <a:srgbClr val="36363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48272" y="2029968"/>
            <a:ext cx="128016" cy="146304"/>
          </a:xfrm>
          <a:prstGeom prst="rect">
            <a:avLst/>
          </a:prstGeom>
          <a:solidFill>
            <a:srgbClr val="3636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58000" y="1371600"/>
            <a:ext cx="1371600" cy="1463040"/>
          </a:xfrm>
          <a:prstGeom prst="rect">
            <a:avLst/>
          </a:prstGeom>
          <a:solidFill>
            <a:srgbClr val="02C39A">
              <a:alpha val="88000"/>
            </a:srgbClr>
          </a:solidFill>
          <a:ln w="2540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338060" y="1508760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3806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858000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Done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949440" y="23774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Ship with confidence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3200400"/>
            <a:ext cx="8229600" cy="640080"/>
          </a:xfrm>
          <a:prstGeom prst="rect">
            <a:avLst/>
          </a:prstGeom>
          <a:solidFill>
            <a:srgbClr val="1E2761">
              <a:alpha val="9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3291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</a:rPr>
              <a:t>One command generates the full feature scaffold: controllers, use cases, repositories, entities, DTOs, and tests.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Reference: Prevent Architecture Drift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2743200"/>
          </a:xfrm>
          <a:prstGeom prst="rect">
            <a:avLst/>
          </a:prstGeom>
          <a:solidFill>
            <a:srgbClr val="FFFFFF">
              <a:alpha val="92000"/>
            </a:srgbClr>
          </a:solidFill>
          <a:ln w="25400">
            <a:solidFill>
              <a:srgbClr val="F9616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280160"/>
            <a:ext cx="73152" cy="2560320"/>
          </a:xfrm>
          <a:prstGeom prst="rect">
            <a:avLst/>
          </a:prstGeom>
          <a:solidFill>
            <a:srgbClr val="F961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Detect Violations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Forbidden imports in domain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Anemic service classes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leaked to API layer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injection (Autowired)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1188720"/>
            <a:ext cx="2651760" cy="2743200"/>
          </a:xfrm>
          <a:prstGeom prst="rect">
            <a:avLst/>
          </a:prstGeom>
          <a:solidFill>
            <a:srgbClr val="FFFFFF">
              <a:alpha val="92000"/>
            </a:srgbClr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46120" y="1280160"/>
            <a:ext cx="73152" cy="256032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13716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Measure Quality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29000" y="192024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coupling score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 by layer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test count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completeness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1188720"/>
            <a:ext cx="2651760" cy="2743200"/>
          </a:xfrm>
          <a:prstGeom prst="rect">
            <a:avLst/>
          </a:prstGeom>
          <a:solidFill>
            <a:srgbClr val="FFFFFF">
              <a:alpha val="92000"/>
            </a:srgbClr>
          </a:solidFill>
          <a:ln w="2540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035040" y="1280160"/>
            <a:ext cx="73152" cy="256032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3716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Enforce Standards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17920" y="192024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Pre-commit gates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commits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regression tests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Per-service GitHub issues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1188720"/>
          </a:xfrm>
          <a:prstGeom prst="rect">
            <a:avLst/>
          </a:prstGeom>
          <a:solidFill>
            <a:srgbClr val="F5F5F5">
              <a:alpha val="50000"/>
            </a:srgbClr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Developers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Ship features faster. No infra headaches.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26280" y="1188720"/>
            <a:ext cx="3931920" cy="1188720"/>
          </a:xfrm>
          <a:prstGeom prst="rect">
            <a:avLst/>
          </a:prstGeom>
          <a:solidFill>
            <a:srgbClr val="F5F5F5">
              <a:alpha val="50000"/>
            </a:srgbClr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0916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Tech Leads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09160" y="1691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Team velocity up. No setup friction.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3931920" cy="1188720"/>
          </a:xfrm>
          <a:prstGeom prst="rect">
            <a:avLst/>
          </a:prstGeom>
          <a:solidFill>
            <a:srgbClr val="F5F5F5">
              <a:alpha val="50000"/>
            </a:srgbClr>
          </a:solidFill>
          <a:ln w="19050">
            <a:solidFill>
              <a:srgbClr val="F9616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Architects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Clean Architecture enforced automatically.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26280" y="2514600"/>
            <a:ext cx="3931920" cy="1188720"/>
          </a:xfrm>
          <a:prstGeom prst="rect">
            <a:avLst/>
          </a:prstGeom>
          <a:solidFill>
            <a:srgbClr val="F5F5F5">
              <a:alpha val="50000"/>
            </a:srgbClr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0916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DevOps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09160" y="30175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Pre-configured deployment. Zero config needed.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3931920" cy="1188720"/>
          </a:xfrm>
          <a:prstGeom prst="rect">
            <a:avLst/>
          </a:prstGeom>
          <a:solidFill>
            <a:srgbClr val="F5F5F5">
              <a:alpha val="50000"/>
            </a:srgbClr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3977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QA / Auditors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3434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Reference baseline for compliance checks.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26280" y="3840480"/>
            <a:ext cx="3931920" cy="1188720"/>
          </a:xfrm>
          <a:prstGeom prst="rect">
            <a:avLst/>
          </a:prstGeom>
          <a:solidFill>
            <a:srgbClr val="F5F5F5">
              <a:alpha val="50000"/>
            </a:srgbClr>
          </a:solidFill>
          <a:ln w="19050">
            <a:solidFill>
              <a:srgbClr val="84B59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09160" y="3977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Management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09160" y="43434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Predictable timelines. Reduced rework.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61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Ready to Standardize?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Adopt app-architecture-template as your fleet-wide baseline for Clean Architecture compliance.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2743200"/>
            <a:ext cx="2194560" cy="146304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880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6167"/>
                </a:solidFill>
              </a:rPr>
              <a:t>3+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3520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Stacks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Supported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2743200"/>
            <a:ext cx="2194560" cy="146304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2880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6167"/>
                </a:solidFill>
              </a:rPr>
              <a:t>14x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474720" y="3520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Faster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Setup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2743200"/>
            <a:ext cx="2194560" cy="146304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2880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6167"/>
                </a:solidFill>
              </a:rPr>
              <a:t>100%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035040" y="3520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Pre-Commit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Gates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app-architecture-template</dc:title>
  <dc:subject>PptxGenJS Presentation</dc:subject>
  <dc:creator>Archie (Fleet Architect)</dc:creator>
  <cp:lastModifiedBy>Archie (Fleet Architect)</cp:lastModifiedBy>
  <cp:revision>1</cp:revision>
  <dcterms:created xsi:type="dcterms:W3CDTF">2026-06-21T11:53:00Z</dcterms:created>
  <dcterms:modified xsi:type="dcterms:W3CDTF">2026-06-21T11:53:00Z</dcterms:modified>
</cp:coreProperties>
</file>